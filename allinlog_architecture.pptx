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502920"/>
            <a:ext cx="3063240" cy="3749039"/>
          </a:xfrm>
          <a:prstGeom prst="roundRect">
            <a:avLst/>
          </a:prstGeom>
          <a:solidFill>
            <a:srgbClr val="BDD6EE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1F497D"/>
                </a:solidFill>
              </a:rPr>
              <a:t>Screener</a:t>
            </a:r>
          </a:p>
          <a:p>
            <a:pPr algn="ctr"/>
            <a:r>
              <a:rPr b="1" sz="1100">
                <a:solidFill>
                  <a:srgbClr val="1F497D"/>
                </a:solidFill>
              </a:rPr>
              <a:t>(AllLinLog)</a:t>
            </a:r>
          </a:p>
          <a:p>
            <a:pPr algn="ctr"/>
            <a:r>
              <a:rPr b="0" sz="400">
                <a:solidFill>
                  <a:srgbClr val="000000"/>
                </a:solidFill>
              </a:rPr>
              <a:t/>
            </a:r>
          </a:p>
          <a:p>
            <a:pPr algn="ctr"/>
            <a:r>
              <a:rPr b="0" sz="900">
                <a:solidFill>
                  <a:srgbClr val="000000"/>
                </a:solidFill>
              </a:rPr>
              <a:t>Linear Self-Attention</a:t>
            </a:r>
          </a:p>
          <a:p>
            <a:pPr algn="ctr"/>
            <a:r>
              <a:rPr b="0" sz="400">
                <a:solidFill>
                  <a:srgbClr val="000000"/>
                </a:solidFill>
              </a:rPr>
              <a:t/>
            </a:r>
          </a:p>
          <a:p>
            <a:pPr algn="ctr"/>
            <a:r>
              <a:rPr b="0" sz="900">
                <a:solidFill>
                  <a:srgbClr val="000000"/>
                </a:solidFill>
              </a:rPr>
              <a:t>▐▌  logits ◄─</a:t>
            </a:r>
          </a:p>
          <a:p>
            <a:pPr algn="ctr"/>
            <a:r>
              <a:rPr b="0" sz="300">
                <a:solidFill>
                  <a:srgbClr val="000000"/>
                </a:solidFill>
              </a:rPr>
              <a:t/>
            </a:r>
          </a:p>
          <a:p>
            <a:pPr algn="ctr"/>
            <a:r>
              <a:rPr b="0" sz="800">
                <a:solidFill>
                  <a:srgbClr val="000000"/>
                </a:solidFill>
              </a:rPr>
              <a:t>☰  ⇐ Normal  ◄─</a:t>
            </a:r>
          </a:p>
          <a:p>
            <a:pPr algn="ctr"/>
            <a:r>
              <a:rPr b="0" sz="800">
                <a:solidFill>
                  <a:srgbClr val="000000"/>
                </a:solidFill>
              </a:rPr>
              <a:t>☰  ⇐ Anomaly ◄─</a:t>
            </a:r>
          </a:p>
          <a:p>
            <a:pPr algn="ctr"/>
            <a:r>
              <a:rPr b="0" sz="400">
                <a:solidFill>
                  <a:srgbClr val="000000"/>
                </a:solidFill>
              </a:rPr>
              <a:t/>
            </a:r>
          </a:p>
          <a:p>
            <a:pPr algn="ctr"/>
            <a:r>
              <a:rPr b="0" sz="800">
                <a:solidFill>
                  <a:srgbClr val="000000"/>
                </a:solidFill>
              </a:rPr>
              <a:t>Logits = [lₙₒᵣₘ, lₐₙₒₘ]</a:t>
            </a:r>
          </a:p>
          <a:p>
            <a:pPr algn="ctr"/>
            <a:r>
              <a:rPr b="0" sz="800">
                <a:solidFill>
                  <a:srgbClr val="000000"/>
                </a:solidFill>
              </a:rPr>
              <a:t>pred = argmax(logits)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2377440"/>
            <a:ext cx="777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C3C3C"/>
                </a:solidFill>
              </a:rPr>
              <a:t>Log
Sessions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788920"/>
            <a:ext cx="64008" cy="0"/>
          </a:xfrm>
          <a:prstGeom prst="line">
            <a:avLst/>
          </a:prstGeom>
          <a:ln w="19050">
            <a:solidFill>
              <a:srgbClr val="3C3C3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43400" y="320040"/>
            <a:ext cx="2011680" cy="1005840"/>
          </a:xfrm>
          <a:prstGeom prst="roundRect">
            <a:avLst/>
          </a:prstGeom>
          <a:solidFill>
            <a:srgbClr val="FFD966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963200"/>
                </a:solidFill>
              </a:rPr>
              <a:t>Gating</a:t>
            </a:r>
          </a:p>
          <a:p>
            <a:pPr algn="ctr"/>
            <a:r>
              <a:rPr b="0" sz="900">
                <a:solidFill>
                  <a:srgbClr val="000000"/>
                </a:solidFill>
              </a:rPr>
              <a:t>Trigger Rules</a:t>
            </a:r>
          </a:p>
          <a:p>
            <a:pPr algn="ctr"/>
            <a:r>
              <a:rPr b="0" sz="900">
                <a:solidFill>
                  <a:srgbClr val="000000"/>
                </a:solidFill>
              </a:rPr>
              <a:t>pred = anomaly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2103120"/>
            <a:ext cx="2468880" cy="1965960"/>
          </a:xfrm>
          <a:prstGeom prst="roundRect">
            <a:avLst/>
          </a:prstGeom>
          <a:solidFill>
            <a:srgbClr val="FFD966"/>
          </a:solidFill>
          <a:ln w="19050">
            <a:solidFill>
              <a:srgbClr val="ED7D3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963200"/>
                </a:solidFill>
              </a:rPr>
              <a:t>Gating</a:t>
            </a:r>
          </a:p>
          <a:p>
            <a:pPr algn="ctr"/>
            <a:r>
              <a:rPr b="0" sz="800">
                <a:solidFill>
                  <a:srgbClr val="000000"/>
                </a:solidFill>
              </a:rPr>
              <a:t>Trigger Rules</a:t>
            </a:r>
          </a:p>
          <a:p>
            <a:pPr algn="ctr"/>
            <a:r>
              <a:rPr b="0" sz="800">
                <a:solidFill>
                  <a:srgbClr val="000000"/>
                </a:solidFill>
              </a:rPr>
              <a:t>pred = anomaly</a:t>
            </a:r>
          </a:p>
          <a:p>
            <a:pPr algn="ctr"/>
            <a:r>
              <a:rPr b="0" sz="300">
                <a:solidFill>
                  <a:srgbClr val="000000"/>
                </a:solidFill>
              </a:rPr>
              <a:t/>
            </a:r>
          </a:p>
          <a:p>
            <a:pPr algn="ctr"/>
            <a:r>
              <a:rPr b="0" sz="800">
                <a:solidFill>
                  <a:srgbClr val="000000"/>
                </a:solidFill>
              </a:rPr>
              <a:t>- Explain-All</a:t>
            </a:r>
          </a:p>
          <a:p>
            <a:pPr algn="ctr"/>
            <a:r>
              <a:rPr b="0" sz="800">
                <a:solidFill>
                  <a:srgbClr val="000000"/>
                </a:solidFill>
              </a:rPr>
              <a:t>- Budgeted: Low margin (pₐₙₒₘ)</a:t>
            </a:r>
          </a:p>
          <a:p>
            <a:pPr algn="ctr"/>
            <a:r>
              <a:rPr b="0" sz="800">
                <a:solidFill>
                  <a:srgbClr val="000000"/>
                </a:solidFill>
              </a:rPr>
              <a:t>(pₐₙₒₘ)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37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05050"/>
                </a:solidFill>
              </a:rPr>
              <a:t>Reason?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20040"/>
            <a:ext cx="4754880" cy="5029200"/>
          </a:xfrm>
          <a:prstGeom prst="roundRect">
            <a:avLst/>
          </a:prstGeom>
          <a:solidFill>
            <a:srgbClr val="E2EFDA"/>
          </a:solidFill>
          <a:ln w="254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385E16"/>
                </a:solidFill>
              </a:rPr>
              <a:t>Reasoner</a:t>
            </a:r>
          </a:p>
          <a:p>
            <a:pPr algn="ctr"/>
            <a:r>
              <a:rPr b="1" sz="1100">
                <a:solidFill>
                  <a:srgbClr val="385E16"/>
                </a:solidFill>
              </a:rPr>
              <a:t>(LLM)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85E16"/>
                </a:solidFill>
              </a:rPr>
              <a:t>• Analyze
  + retrieve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691640"/>
            <a:ext cx="4434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000">
                <a:solidFill>
                  <a:srgbClr val="385E16"/>
                </a:solidFill>
              </a:rPr>
              <a:t>Claims {</a:t>
            </a:r>
          </a:p>
          <a:p>
            <a:pPr algn="l"/>
            <a:r>
              <a:rPr b="0" sz="850">
                <a:solidFill>
                  <a:srgbClr val="000000"/>
                </a:solidFill>
              </a:rPr>
              <a:t>  Claim 1:  Evidence IDs: E2, E5</a:t>
            </a:r>
          </a:p>
          <a:p>
            <a:pPr algn="l"/>
            <a:r>
              <a:rPr b="0" sz="850">
                <a:solidFill>
                  <a:srgbClr val="000000"/>
                </a:solidFill>
              </a:rPr>
              <a:t>  Claim 2:  Evidence IDs: E1</a:t>
            </a:r>
          </a:p>
          <a:p>
            <a:pPr algn="l"/>
            <a:r>
              <a:rPr b="0" sz="850">
                <a:solidFill>
                  <a:srgbClr val="000000"/>
                </a:solidFill>
              </a:rPr>
              <a:t>  ...</a:t>
            </a:r>
          </a:p>
          <a:p>
            <a:pPr algn="l"/>
            <a:r>
              <a:rPr b="0" sz="900">
                <a:solidFill>
                  <a:srgbClr val="385E16"/>
                </a:solidFill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3291840"/>
            <a:ext cx="44348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000">
                <a:solidFill>
                  <a:srgbClr val="385E16"/>
                </a:solidFill>
              </a:rPr>
              <a:t>Traceable Explanation {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  Claim 1: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    • Evidence IDs: E2, E5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    • Evidence IDs: E1</a:t>
            </a:r>
          </a:p>
          <a:p>
            <a:pPr algn="l"/>
            <a:r>
              <a:rPr b="0" sz="900">
                <a:solidFill>
                  <a:srgbClr val="385E16"/>
                </a:solidFill>
              </a:rPr>
              <a:t>}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397763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85E16"/>
                </a:solidFill>
              </a:rPr>
              <a:t>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5349240"/>
            <a:ext cx="3017520" cy="11887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785000"/>
                </a:solidFill>
              </a:rPr>
              <a:t>Evidence Corpus</a:t>
            </a:r>
          </a:p>
          <a:p>
            <a:pPr algn="ctr"/>
            <a:r>
              <a:rPr b="0" sz="900">
                <a:solidFill>
                  <a:srgbClr val="000000"/>
                </a:solidFill>
              </a:rPr>
              <a:t>All sessions</a:t>
            </a:r>
          </a:p>
          <a:p>
            <a:pPr algn="ctr"/>
            <a:r>
              <a:rPr b="0" sz="900">
                <a:solidFill>
                  <a:srgbClr val="000000"/>
                </a:solidFill>
              </a:rPr>
              <a:t>(Normal + Anomaly)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5349240"/>
            <a:ext cx="1005840" cy="1005840"/>
          </a:xfrm>
          <a:prstGeom prst="rect">
            <a:avLst/>
          </a:prstGeom>
          <a:solidFill>
            <a:srgbClr val="FFFCE6"/>
          </a:solidFill>
          <a:ln w="12700">
            <a:solidFill>
              <a:srgbClr val="B4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700">
                <a:solidFill>
                  <a:srgbClr val="505050"/>
                </a:solidFill>
              </a:rPr>
              <a:t>sess_id</a:t>
            </a:r>
          </a:p>
          <a:p>
            <a:pPr algn="ctr"/>
            <a:r>
              <a:rPr b="0" sz="700">
                <a:solidFill>
                  <a:srgbClr val="000000"/>
                </a:solidFill>
              </a:rPr>
              <a:t>• E1: ::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63733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05050"/>
                </a:solidFill>
              </a:rPr>
              <a:t>Evidence E1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5349240"/>
            <a:ext cx="1005840" cy="1005840"/>
          </a:xfrm>
          <a:prstGeom prst="rect">
            <a:avLst/>
          </a:prstGeom>
          <a:solidFill>
            <a:srgbClr val="FFFCE6"/>
          </a:solidFill>
          <a:ln w="12700">
            <a:solidFill>
              <a:srgbClr val="B4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700">
                <a:solidFill>
                  <a:srgbClr val="505050"/>
                </a:solidFill>
              </a:rPr>
              <a:t>sess_id</a:t>
            </a:r>
          </a:p>
          <a:p>
            <a:pPr algn="ctr"/>
            <a:r>
              <a:rPr b="0" sz="700">
                <a:solidFill>
                  <a:srgbClr val="000000"/>
                </a:solidFill>
              </a:rPr>
              <a:t>• E1: ::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63733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05050"/>
                </a:solidFill>
              </a:rPr>
              <a:t>Evidence E2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5349240"/>
            <a:ext cx="1005840" cy="1005840"/>
          </a:xfrm>
          <a:prstGeom prst="rect">
            <a:avLst/>
          </a:prstGeom>
          <a:solidFill>
            <a:srgbClr val="FFFCE6"/>
          </a:solidFill>
          <a:ln w="12700">
            <a:solidFill>
              <a:srgbClr val="B4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700">
                <a:solidFill>
                  <a:srgbClr val="505050"/>
                </a:solidFill>
              </a:rPr>
              <a:t>sess_id</a:t>
            </a:r>
          </a:p>
          <a:p>
            <a:pPr algn="ctr"/>
            <a:r>
              <a:rPr b="0" sz="700">
                <a:solidFill>
                  <a:srgbClr val="000000"/>
                </a:solidFill>
              </a:rPr>
              <a:t>• E1: ::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3733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05050"/>
                </a:solidFill>
              </a:rPr>
              <a:t>Evidence 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583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46464"/>
                </a:solidFill>
              </a:rPr>
              <a:t>&lt;sess_id_123  |  &lt;normalized text&gt;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04872" y="502920"/>
            <a:ext cx="1938528" cy="320040"/>
          </a:xfrm>
          <a:prstGeom prst="line">
            <a:avLst/>
          </a:prstGeom>
          <a:ln w="19050">
            <a:solidFill>
              <a:srgbClr val="3C3C3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55080" y="822960"/>
            <a:ext cx="502920" cy="0"/>
          </a:xfrm>
          <a:prstGeom prst="line">
            <a:avLst/>
          </a:prstGeom>
          <a:ln w="19050">
            <a:solidFill>
              <a:srgbClr val="3C3C3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931920" y="2834640"/>
            <a:ext cx="64008" cy="246888"/>
          </a:xfrm>
          <a:prstGeom prst="line">
            <a:avLst/>
          </a:prstGeom>
          <a:ln w="19050">
            <a:solidFill>
              <a:srgbClr val="3C3C3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31920" y="2423160"/>
            <a:ext cx="64008" cy="0"/>
          </a:xfrm>
          <a:prstGeom prst="line">
            <a:avLst/>
          </a:prstGeom>
          <a:ln w="19050">
            <a:solidFill>
              <a:srgbClr val="3C3C3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04872" y="502920"/>
            <a:ext cx="0" cy="9144"/>
          </a:xfrm>
          <a:prstGeom prst="line">
            <a:avLst/>
          </a:prstGeom>
          <a:ln w="1270">
            <a:solidFill>
              <a:srgbClr val="3C3C3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446520" y="2377440"/>
            <a:ext cx="411480" cy="704088"/>
          </a:xfrm>
          <a:prstGeom prst="line">
            <a:avLst/>
          </a:prstGeom>
          <a:ln w="19050">
            <a:solidFill>
              <a:srgbClr val="3C3C3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783080" y="4251960"/>
            <a:ext cx="0" cy="1097280"/>
          </a:xfrm>
          <a:prstGeom prst="line">
            <a:avLst/>
          </a:prstGeom>
          <a:ln w="19050">
            <a:solidFill>
              <a:srgbClr val="3C3C3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3C3C3C"/>
                </a:solidFill>
              </a:rPr>
              <a:t>Retrieve Top-k Evidence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206240" y="5852160"/>
            <a:ext cx="731520" cy="0"/>
          </a:xfrm>
          <a:prstGeom prst="line">
            <a:avLst/>
          </a:prstGeom>
          <a:ln w="19050">
            <a:solidFill>
              <a:srgbClr val="3C3C3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3C3C3C"/>
                </a:solidFill>
              </a:rPr>
              <a:t>Retrieve Top-k Evidence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11475720" y="1371600"/>
            <a:ext cx="0" cy="2788920"/>
          </a:xfrm>
          <a:prstGeom prst="line">
            <a:avLst/>
          </a:prstGeom>
          <a:ln w="15240">
            <a:solidFill>
              <a:srgbClr val="3C3C3C"/>
            </a:solidFill>
            <a:prstDash val="dash"/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858000" y="1371600"/>
            <a:ext cx="4617720" cy="0"/>
          </a:xfrm>
          <a:prstGeom prst="line">
            <a:avLst/>
          </a:prstGeom>
          <a:ln w="15240">
            <a:solidFill>
              <a:srgbClr val="3C3C3C"/>
            </a:solidFill>
            <a:prstDash val="dash"/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657600" y="1920240"/>
            <a:ext cx="411480" cy="228600"/>
          </a:xfrm>
          <a:prstGeom prst="line">
            <a:avLst/>
          </a:prstGeom>
          <a:ln w="12700">
            <a:solidFill>
              <a:srgbClr val="8C6428"/>
            </a:solidFill>
            <a:prstDash val="dash"/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" y="45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05050"/>
                </a:solidFill>
              </a:rPr>
              <a:t>AllLinLog Architecture  —  Screener–Reasoner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